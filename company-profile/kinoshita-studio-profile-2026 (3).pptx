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BE8E2"/>
          </a:solidFill>
          <a:ln w="12700">
            <a:solidFill>
              <a:srgbClr val="EBE8E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0" y="0"/>
            <a:ext cx="5971032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17920" y="0"/>
            <a:ext cx="5971032" cy="6858000"/>
          </a:xfrm>
          <a:prstGeom prst="rect">
            <a:avLst/>
          </a:prstGeom>
          <a:solidFill>
            <a:srgbClr val="E2DED6"/>
          </a:solidFill>
          <a:ln w="12700">
            <a:solidFill>
              <a:srgbClr val="E2DED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9144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STUDIO PROFILE  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53035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dirty="0">
                <a:solidFill>
                  <a:srgbClr val="1A1A1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ブランドを、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dirty="0">
                <a:solidFill>
                  <a:srgbClr val="1A1A1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体験として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dirty="0">
                <a:solidFill>
                  <a:srgbClr val="1A1A1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翻訳する。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640080" y="49377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A7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kinoshita studio  —  Experience Translator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583680" y="914400"/>
            <a:ext cx="5029200" cy="777240"/>
          </a:xfrm>
          <a:prstGeom prst="rect">
            <a:avLst/>
          </a:prstGeom>
          <a:solidFill>
            <a:srgbClr val="E2DED6"/>
          </a:solidFill>
          <a:ln w="7620">
            <a:solidFill>
              <a:srgbClr val="C8C4B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84848" y="1005840"/>
            <a:ext cx="46268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STUDIO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6784848" y="1298448"/>
            <a:ext cx="462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kinoshita studio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583680" y="1828800"/>
            <a:ext cx="5029200" cy="777240"/>
          </a:xfrm>
          <a:prstGeom prst="rect">
            <a:avLst/>
          </a:prstGeom>
          <a:solidFill>
            <a:srgbClr val="E2DED6"/>
          </a:solidFill>
          <a:ln w="7620">
            <a:solidFill>
              <a:srgbClr val="C8C4B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84848" y="1920240"/>
            <a:ext cx="46268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6784848" y="2212848"/>
            <a:ext cx="462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木下 貴博  /  Takahiro Kinoshita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583680" y="2743200"/>
            <a:ext cx="5029200" cy="777240"/>
          </a:xfrm>
          <a:prstGeom prst="rect">
            <a:avLst/>
          </a:prstGeom>
          <a:solidFill>
            <a:srgbClr val="E2DED6"/>
          </a:solidFill>
          <a:ln w="7620">
            <a:solidFill>
              <a:srgbClr val="C8C4B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84848" y="2834640"/>
            <a:ext cx="46268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784848" y="3127248"/>
            <a:ext cx="462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体験翻訳家  /  Experience Translator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583680" y="3657600"/>
            <a:ext cx="5029200" cy="777240"/>
          </a:xfrm>
          <a:prstGeom prst="rect">
            <a:avLst/>
          </a:prstGeom>
          <a:solidFill>
            <a:srgbClr val="E2DED6"/>
          </a:solidFill>
          <a:ln w="7620">
            <a:solidFill>
              <a:srgbClr val="C8C4B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84848" y="3749040"/>
            <a:ext cx="46268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6784848" y="4041648"/>
            <a:ext cx="462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UX  /  UI  /  Art Direction  /  Dev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583680" y="4572000"/>
            <a:ext cx="5029200" cy="777240"/>
          </a:xfrm>
          <a:prstGeom prst="rect">
            <a:avLst/>
          </a:prstGeom>
          <a:solidFill>
            <a:srgbClr val="E2DED6"/>
          </a:solidFill>
          <a:ln w="7620">
            <a:solidFill>
              <a:srgbClr val="C8C4B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84848" y="4663440"/>
            <a:ext cx="46268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784848" y="4956048"/>
            <a:ext cx="462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滋賀・琵琶湖  /  Shiga, Japan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583680" y="5486400"/>
            <a:ext cx="5029200" cy="777240"/>
          </a:xfrm>
          <a:prstGeom prst="rect">
            <a:avLst/>
          </a:prstGeom>
          <a:solidFill>
            <a:srgbClr val="E2DED6"/>
          </a:solidFill>
          <a:ln w="7620">
            <a:solidFill>
              <a:srgbClr val="C8C4B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84848" y="5577840"/>
            <a:ext cx="46268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6784848" y="5870448"/>
            <a:ext cx="4626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kinoshita.studio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BE8E2"/>
          </a:solidFill>
          <a:ln w="12700">
            <a:solidFill>
              <a:srgbClr val="EBE8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STUDIO CONCEPT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1091672" cy="0"/>
          </a:xfrm>
          <a:prstGeom prst="line">
            <a:avLst/>
          </a:prstGeom>
          <a:noFill/>
          <a:ln w="7620">
            <a:solidFill>
              <a:srgbClr val="C8C4B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822960"/>
            <a:ext cx="5303520" cy="5029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005840"/>
            <a:ext cx="54864" cy="4572000"/>
          </a:xfrm>
          <a:prstGeom prst="rect">
            <a:avLst/>
          </a:prstGeom>
          <a:solidFill>
            <a:srgbClr val="A89060"/>
          </a:solidFill>
          <a:ln w="12700">
            <a:solidFill>
              <a:srgbClr val="A890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05156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3400" dirty="0">
                <a:solidFill>
                  <a:srgbClr val="1A1A1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届けたい体験と</a:t>
            </a:r>
            <a:endParaRPr lang="en-US" sz="3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3400" dirty="0">
                <a:solidFill>
                  <a:srgbClr val="1A1A1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届いている体験の</a:t>
            </a:r>
            <a:endParaRPr lang="en-US" sz="3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3400" dirty="0">
                <a:solidFill>
                  <a:srgbClr val="1A1A1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ズレを揃える。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822960" y="356616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90000"/>
              </a:lnSpc>
              <a:buNone/>
            </a:pPr>
            <a:r>
              <a:rPr lang="en-US" sz="1100" dirty="0">
                <a:solidFill>
                  <a:srgbClr val="3A3A3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ブランドはロゴではなく、体験で記憶される。</a:t>
            </a:r>
            <a:endParaRPr lang="en-US" sz="1100" dirty="0"/>
          </a:p>
          <a:p>
            <a:pPr indent="0" marL="0">
              <a:lnSpc>
                <a:spcPct val="190000"/>
              </a:lnSpc>
              <a:buNone/>
            </a:pPr>
            <a:endParaRPr lang="en-US" sz="1100" dirty="0"/>
          </a:p>
          <a:p>
            <a:pPr indent="0" marL="0">
              <a:lnSpc>
                <a:spcPct val="190000"/>
              </a:lnSpc>
              <a:buNone/>
            </a:pPr>
            <a:r>
              <a:rPr lang="en-US" sz="1100" dirty="0">
                <a:solidFill>
                  <a:srgbClr val="3A3A3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「思想が伝わらない」「デザインはあるのに何かが足りない」——そのズレの正体を発見し、UX・デザインとして整えるのが木下スタジオの仕事です。</a:t>
            </a:r>
            <a:endParaRPr lang="en-US" sz="1100" dirty="0"/>
          </a:p>
          <a:p>
            <a:pPr indent="0" marL="0">
              <a:lnSpc>
                <a:spcPct val="190000"/>
              </a:lnSpc>
              <a:buNone/>
            </a:pPr>
            <a:endParaRPr lang="en-US" sz="1100" dirty="0"/>
          </a:p>
          <a:p>
            <a:pPr indent="0" marL="0">
              <a:lnSpc>
                <a:spcPct val="190000"/>
              </a:lnSpc>
              <a:buNone/>
            </a:pPr>
            <a:r>
              <a:rPr lang="en-US" sz="1100" dirty="0">
                <a:solidFill>
                  <a:srgbClr val="3A3A3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リサーチから戦略立案、実装まで一貫して一人で担うことで、思想が摩耗せず体験として届きます。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BE8E2"/>
          </a:solidFill>
          <a:ln w="12700">
            <a:solidFill>
              <a:srgbClr val="EBE8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FOUNDER PROFILE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1091672" cy="0"/>
          </a:xfrm>
          <a:prstGeom prst="line">
            <a:avLst/>
          </a:prstGeom>
          <a:noFill/>
          <a:ln w="7620">
            <a:solidFill>
              <a:srgbClr val="C8C4B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05840"/>
            <a:ext cx="2377440" cy="5120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0" y="100584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1A1A1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木下 貴博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3200400" y="2011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Takahiro Kinoshita  —  Experience Translator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200400" y="2468880"/>
            <a:ext cx="8412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90000"/>
              </a:lnSpc>
              <a:buNone/>
            </a:pPr>
            <a:r>
              <a:rPr lang="en-US" sz="1150" dirty="0">
                <a:solidFill>
                  <a:srgbClr val="3A3A3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滋賀・琵琶湖を拠点に活動するデザイナー・プロダクト開発者。UX/UIデザイン・アートディレクション・プロダクト開発を一人で担う木下スタジオ代表。</a:t>
            </a:r>
            <a:endParaRPr lang="en-US" sz="1150" dirty="0"/>
          </a:p>
          <a:p>
            <a:pPr indent="0" marL="0">
              <a:lnSpc>
                <a:spcPct val="190000"/>
              </a:lnSpc>
              <a:buNone/>
            </a:pPr>
            <a:endParaRPr lang="en-US" sz="1150" dirty="0"/>
          </a:p>
          <a:p>
            <a:pPr indent="0" marL="0">
              <a:lnSpc>
                <a:spcPct val="190000"/>
              </a:lnSpc>
              <a:buNone/>
            </a:pPr>
            <a:r>
              <a:rPr lang="en-US" sz="1150" dirty="0">
                <a:solidFill>
                  <a:srgbClr val="3A3A3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「体験翻訳家」として地域中小企業から個人開発プロダクトまで幅広く手がける。BMBoard・Ateli.er・KODOCOを個人開発・世界公開。Product Hunt ローンチ経験あり。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00400" y="4937760"/>
            <a:ext cx="2651760" cy="475488"/>
          </a:xfrm>
          <a:prstGeom prst="rect">
            <a:avLst/>
          </a:prstGeom>
          <a:solidFill>
            <a:srgbClr val="EBE8E2"/>
          </a:solidFill>
          <a:ln w="7620">
            <a:solidFill>
              <a:srgbClr val="C0BCB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0" y="493776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7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UX Design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035040" y="4937760"/>
            <a:ext cx="2651760" cy="475488"/>
          </a:xfrm>
          <a:prstGeom prst="rect">
            <a:avLst/>
          </a:prstGeom>
          <a:solidFill>
            <a:srgbClr val="EBE8E2"/>
          </a:solidFill>
          <a:ln w="7620">
            <a:solidFill>
              <a:srgbClr val="C0BCB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35040" y="493776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7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 Design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8869680" y="4937760"/>
            <a:ext cx="2651760" cy="475488"/>
          </a:xfrm>
          <a:prstGeom prst="rect">
            <a:avLst/>
          </a:prstGeom>
          <a:solidFill>
            <a:srgbClr val="EBE8E2"/>
          </a:solidFill>
          <a:ln w="7620">
            <a:solidFill>
              <a:srgbClr val="C0BCB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869680" y="493776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7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 Direction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200400" y="5532120"/>
            <a:ext cx="2651760" cy="475488"/>
          </a:xfrm>
          <a:prstGeom prst="rect">
            <a:avLst/>
          </a:prstGeom>
          <a:solidFill>
            <a:srgbClr val="EBE8E2"/>
          </a:solidFill>
          <a:ln w="7620">
            <a:solidFill>
              <a:srgbClr val="C0BCB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00400" y="553212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7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Design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035040" y="5532120"/>
            <a:ext cx="2651760" cy="475488"/>
          </a:xfrm>
          <a:prstGeom prst="rect">
            <a:avLst/>
          </a:prstGeom>
          <a:solidFill>
            <a:srgbClr val="EBE8E2"/>
          </a:solidFill>
          <a:ln w="7620">
            <a:solidFill>
              <a:srgbClr val="C0BCB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35040" y="553212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7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Dev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8869680" y="5532120"/>
            <a:ext cx="2651760" cy="475488"/>
          </a:xfrm>
          <a:prstGeom prst="rect">
            <a:avLst/>
          </a:prstGeom>
          <a:solidFill>
            <a:srgbClr val="EBE8E2"/>
          </a:solidFill>
          <a:ln w="7620">
            <a:solidFill>
              <a:srgbClr val="C0BCB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869680" y="553212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7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Chrome Ext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BE8E2"/>
          </a:solidFill>
          <a:ln w="12700">
            <a:solidFill>
              <a:srgbClr val="EBE8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OUR DIFFERENCE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1091672" cy="0"/>
          </a:xfrm>
          <a:prstGeom prst="line">
            <a:avLst/>
          </a:prstGeom>
          <a:noFill/>
          <a:ln w="7620">
            <a:solidFill>
              <a:srgbClr val="C8C4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868680"/>
            <a:ext cx="3566160" cy="5760720"/>
          </a:xfrm>
          <a:prstGeom prst="rect">
            <a:avLst/>
          </a:prstGeom>
          <a:solidFill>
            <a:srgbClr val="E2DED6"/>
          </a:solidFill>
          <a:ln w="7620">
            <a:solidFill>
              <a:srgbClr val="C8C4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005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7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一般的なデザイン会社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A3A3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課題のヒアリング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191109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2258568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A3A3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デザイン制作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266090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3008376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A3A3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納品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7240" y="60807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800" spc="100" kern="0" dirty="0">
                <a:solidFill>
                  <a:srgbClr val="7A7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見た目から始まる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251960" y="868680"/>
            <a:ext cx="3566160" cy="5760720"/>
          </a:xfrm>
          <a:prstGeom prst="rect">
            <a:avLst/>
          </a:prstGeom>
          <a:solidFill>
            <a:srgbClr val="E2DED6"/>
          </a:solidFill>
          <a:ln w="7620">
            <a:solidFill>
              <a:srgbClr val="C8C4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005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7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UXデザイン会社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480560" y="1508760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A3A3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ユーザーリサーチ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480560" y="191109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80560" y="2258568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A3A3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UX設計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480560" y="266090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80560" y="3008376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A3A3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UI実装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480560" y="60807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800" spc="100" kern="0" dirty="0">
                <a:solidFill>
                  <a:srgbClr val="7A7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ユーザーから始まる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955280" y="868680"/>
            <a:ext cx="3566160" cy="5760720"/>
          </a:xfrm>
          <a:prstGeom prst="rect">
            <a:avLst/>
          </a:prstGeom>
          <a:solidFill>
            <a:srgbClr val="1A1A18"/>
          </a:solidFill>
          <a:ln w="7620">
            <a:solidFill>
              <a:srgbClr val="2A2A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83880" y="1005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kinoshita studio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183880" y="1508760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C8C4B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ブランドの価値を理解する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183880" y="191109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183880" y="2258568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C8C4B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顧客体験として設計する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183880" y="266090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83880" y="3008376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C8C4B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UX / デザインで実装する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183880" y="341071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183880" y="3758184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C8C4B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ズレを観察・改善する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183880" y="41605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83880" y="4507992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A8906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音・余白・時間・トーンで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A8906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体験の質感を整える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83880" y="60807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800" spc="1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 design not only visuals,</a:t>
            </a:r>
            <a:endParaRPr lang="en-US" sz="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800" spc="1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 the quality of experience.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BE8E2"/>
          </a:solidFill>
          <a:ln w="12700">
            <a:solidFill>
              <a:srgbClr val="EBE8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PROCESS  /  3つのプロセス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1091672" cy="0"/>
          </a:xfrm>
          <a:prstGeom prst="line">
            <a:avLst/>
          </a:prstGeom>
          <a:noFill/>
          <a:ln w="7620">
            <a:solidFill>
              <a:srgbClr val="C8C4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868680"/>
            <a:ext cx="3566160" cy="5760720"/>
          </a:xfrm>
          <a:prstGeom prst="rect">
            <a:avLst/>
          </a:prstGeom>
          <a:solidFill>
            <a:srgbClr val="E2DED6"/>
          </a:solidFill>
          <a:ln w="7620">
            <a:solidFill>
              <a:srgbClr val="C8C4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005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Experience Research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" y="137160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Observe.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77240" y="20848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7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体験の観察と分析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" y="246888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85000"/>
              </a:lnSpc>
              <a:buNone/>
            </a:pPr>
            <a:r>
              <a:rPr lang="en-US" sz="1050" dirty="0">
                <a:solidFill>
                  <a:srgbClr val="3A3A3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ブランドが届けたい体験と、顧客が実際に感じている体験のズレを特定する。ユーザーリサーチ・フィールド観察・ブランド分析によって「見えていなかった課題」を可視化する。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" y="5029200"/>
            <a:ext cx="3108960" cy="0"/>
          </a:xfrm>
          <a:prstGeom prst="line">
            <a:avLst/>
          </a:prstGeom>
          <a:noFill/>
          <a:ln w="6350">
            <a:solidFill>
              <a:srgbClr val="C8C4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51206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OUTPUT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77240" y="541324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900" dirty="0">
                <a:solidFill>
                  <a:srgbClr val="7A7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Experience Research Report</a:t>
            </a:r>
            <a:endParaRPr lang="en-US" sz="9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900" dirty="0">
                <a:solidFill>
                  <a:srgbClr val="7A7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ズレのマッピング  /  インサイト抽出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51960" y="868680"/>
            <a:ext cx="3566160" cy="5760720"/>
          </a:xfrm>
          <a:prstGeom prst="rect">
            <a:avLst/>
          </a:prstGeom>
          <a:solidFill>
            <a:srgbClr val="E2DED6"/>
          </a:solidFill>
          <a:ln w="7620">
            <a:solidFill>
              <a:srgbClr val="C8C4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005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Experience Strategy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480560" y="137160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Translate.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480560" y="20848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7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ブランド体験の設計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480560" y="246888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85000"/>
              </a:lnSpc>
              <a:buNone/>
            </a:pPr>
            <a:r>
              <a:rPr lang="en-US" sz="1050" dirty="0">
                <a:solidFill>
                  <a:srgbClr val="3A3A3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リサーチで発見したズレを解消するための体験設計。ブランドコンセプト・ペルソナ・カスタマージャーニーを統合し、「届けるべき感覚」を言語化・構造化する。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80560" y="5029200"/>
            <a:ext cx="3108960" cy="0"/>
          </a:xfrm>
          <a:prstGeom prst="line">
            <a:avLst/>
          </a:prstGeom>
          <a:noFill/>
          <a:ln w="6350">
            <a:solidFill>
              <a:srgbClr val="C8C4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51206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OUTPUT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480560" y="541324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900" dirty="0">
                <a:solidFill>
                  <a:srgbClr val="7A7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 Experience Map</a:t>
            </a:r>
            <a:endParaRPr lang="en-US" sz="9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900" dirty="0">
                <a:solidFill>
                  <a:srgbClr val="7A7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  /  Journey  /  Experience Strategy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955280" y="868680"/>
            <a:ext cx="3566160" cy="5760720"/>
          </a:xfrm>
          <a:prstGeom prst="rect">
            <a:avLst/>
          </a:prstGeom>
          <a:solidFill>
            <a:srgbClr val="E2DED6"/>
          </a:solidFill>
          <a:ln w="7620">
            <a:solidFill>
              <a:srgbClr val="C8C4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83880" y="1005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Experience Design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183880" y="137160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Implement.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8183880" y="20848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7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体験の実装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183880" y="246888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85000"/>
              </a:lnSpc>
              <a:buNone/>
            </a:pPr>
            <a:r>
              <a:rPr lang="en-US" sz="1050" dirty="0">
                <a:solidFill>
                  <a:srgbClr val="3A3A3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戦略を実際のUX/デザインとして実装する。Web・UI・ビジュアル・コンテンツすべての接点で、ブランドが意図する体験を届ける形に整える。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183880" y="5029200"/>
            <a:ext cx="3108960" cy="0"/>
          </a:xfrm>
          <a:prstGeom prst="line">
            <a:avLst/>
          </a:prstGeom>
          <a:noFill/>
          <a:ln w="6350">
            <a:solidFill>
              <a:srgbClr val="C8C4B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83880" y="51206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OUTPUT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183880" y="541324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900" dirty="0">
                <a:solidFill>
                  <a:srgbClr val="7A7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UX / UI Design  /  Web Design</a:t>
            </a:r>
            <a:endParaRPr lang="en-US" sz="9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900" dirty="0">
                <a:solidFill>
                  <a:srgbClr val="7A7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System  /  + 音・余白・時間・トーン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BE8E2"/>
          </a:solidFill>
          <a:ln w="12700">
            <a:solidFill>
              <a:srgbClr val="EBE8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ORIGINAL PRODUCTS  /  個人開発プロダクト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1091672" cy="0"/>
          </a:xfrm>
          <a:prstGeom prst="line">
            <a:avLst/>
          </a:prstGeom>
          <a:noFill/>
          <a:ln w="7620">
            <a:solidFill>
              <a:srgbClr val="C8C4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868680"/>
            <a:ext cx="3566160" cy="5760720"/>
          </a:xfrm>
          <a:prstGeom prst="rect">
            <a:avLst/>
          </a:prstGeom>
          <a:solidFill>
            <a:srgbClr val="E2DED6"/>
          </a:solidFill>
          <a:ln w="7620">
            <a:solidFill>
              <a:srgbClr val="C8C4B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868680"/>
            <a:ext cx="3566160" cy="2194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3063240"/>
            <a:ext cx="3566160" cy="3566160"/>
          </a:xfrm>
          <a:prstGeom prst="rect">
            <a:avLst/>
          </a:prstGeom>
          <a:solidFill>
            <a:srgbClr val="E2DED6"/>
          </a:solidFill>
          <a:ln w="12700">
            <a:solidFill>
              <a:srgbClr val="C8C4B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31546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01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" y="345643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BMBoard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77240" y="40965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Black Mirror Board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77240" y="44348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5000"/>
              </a:lnSpc>
              <a:buNone/>
            </a:pPr>
            <a:r>
              <a:rPr lang="en-US" sz="950" dirty="0">
                <a:solidFill>
                  <a:srgbClr val="3A3A3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iPhone・Mac 対応のミニマルなホワイトボードアプリ。鉛筆・テキスト・付箋・GIFを組み合わせたキャンバス。Product Hunt ローンチ済み。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77240" y="5742432"/>
            <a:ext cx="1005840" cy="292608"/>
          </a:xfrm>
          <a:prstGeom prst="rect">
            <a:avLst/>
          </a:prstGeom>
          <a:solidFill>
            <a:srgbClr val="EBE8E2"/>
          </a:solidFill>
          <a:ln w="7620">
            <a:solidFill>
              <a:srgbClr val="C0BCB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574243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App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1892808" y="5742432"/>
            <a:ext cx="1005840" cy="292608"/>
          </a:xfrm>
          <a:prstGeom prst="rect">
            <a:avLst/>
          </a:prstGeom>
          <a:solidFill>
            <a:srgbClr val="EBE8E2"/>
          </a:solidFill>
          <a:ln w="7620">
            <a:solidFill>
              <a:srgbClr val="C0BCB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892808" y="574243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Chrome Ext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3008376" y="5742432"/>
            <a:ext cx="1005840" cy="292608"/>
          </a:xfrm>
          <a:prstGeom prst="rect">
            <a:avLst/>
          </a:prstGeom>
          <a:solidFill>
            <a:srgbClr val="EBE8E2"/>
          </a:solidFill>
          <a:ln w="7620">
            <a:solidFill>
              <a:srgbClr val="C0BCB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08376" y="574243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Hunt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777240" y="6126480"/>
            <a:ext cx="3108960" cy="0"/>
          </a:xfrm>
          <a:prstGeom prst="line">
            <a:avLst/>
          </a:prstGeom>
          <a:noFill/>
          <a:ln w="6350">
            <a:solidFill>
              <a:srgbClr val="C8C4B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619963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bmboard.studio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251960" y="868680"/>
            <a:ext cx="3566160" cy="5760720"/>
          </a:xfrm>
          <a:prstGeom prst="rect">
            <a:avLst/>
          </a:prstGeom>
          <a:solidFill>
            <a:srgbClr val="E2DED6"/>
          </a:solidFill>
          <a:ln w="7620">
            <a:solidFill>
              <a:srgbClr val="C8C4BE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51960" y="868680"/>
            <a:ext cx="3566160" cy="219456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4251960" y="3063240"/>
            <a:ext cx="3566160" cy="3566160"/>
          </a:xfrm>
          <a:prstGeom prst="rect">
            <a:avLst/>
          </a:prstGeom>
          <a:solidFill>
            <a:srgbClr val="E2DED6"/>
          </a:solidFill>
          <a:ln w="12700">
            <a:solidFill>
              <a:srgbClr val="C8C4B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480560" y="31546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02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4480560" y="345643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Ateli.er</a:t>
            </a:r>
            <a:endParaRPr lang="en-US" sz="3000" dirty="0"/>
          </a:p>
        </p:txBody>
      </p:sp>
      <p:sp>
        <p:nvSpPr>
          <p:cNvPr id="25" name="Text 21"/>
          <p:cNvSpPr/>
          <p:nvPr/>
        </p:nvSpPr>
        <p:spPr>
          <a:xfrm>
            <a:off x="4480560" y="40965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Music Curation Studio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4480560" y="44348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5000"/>
              </a:lnSpc>
              <a:buNone/>
            </a:pPr>
            <a:r>
              <a:rPr lang="en-US" sz="950" dirty="0">
                <a:solidFill>
                  <a:srgbClr val="3A3A3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音楽・映像・テキストをチャンネルに集めて共有するキュレーションスタジオ。マルチユーザー対応。Chrome拡張「Atelier Clip」もCWS公開済み。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4480560" y="5742432"/>
            <a:ext cx="1005840" cy="292608"/>
          </a:xfrm>
          <a:prstGeom prst="rect">
            <a:avLst/>
          </a:prstGeom>
          <a:solidFill>
            <a:srgbClr val="EBE8E2"/>
          </a:solidFill>
          <a:ln w="7620">
            <a:solidFill>
              <a:srgbClr val="C0BCB5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480560" y="574243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App</a:t>
            </a:r>
            <a:endParaRPr lang="en-US" sz="700" dirty="0"/>
          </a:p>
        </p:txBody>
      </p:sp>
      <p:sp>
        <p:nvSpPr>
          <p:cNvPr id="29" name="Shape 25"/>
          <p:cNvSpPr/>
          <p:nvPr/>
        </p:nvSpPr>
        <p:spPr>
          <a:xfrm>
            <a:off x="5596128" y="5742432"/>
            <a:ext cx="1005840" cy="292608"/>
          </a:xfrm>
          <a:prstGeom prst="rect">
            <a:avLst/>
          </a:prstGeom>
          <a:solidFill>
            <a:srgbClr val="EBE8E2"/>
          </a:solidFill>
          <a:ln w="7620">
            <a:solidFill>
              <a:srgbClr val="C0BCB5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596128" y="574243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</a:t>
            </a:r>
            <a:endParaRPr lang="en-US" sz="700" dirty="0"/>
          </a:p>
        </p:txBody>
      </p:sp>
      <p:sp>
        <p:nvSpPr>
          <p:cNvPr id="31" name="Shape 27"/>
          <p:cNvSpPr/>
          <p:nvPr/>
        </p:nvSpPr>
        <p:spPr>
          <a:xfrm>
            <a:off x="6711696" y="5742432"/>
            <a:ext cx="1005840" cy="292608"/>
          </a:xfrm>
          <a:prstGeom prst="rect">
            <a:avLst/>
          </a:prstGeom>
          <a:solidFill>
            <a:srgbClr val="EBE8E2"/>
          </a:solidFill>
          <a:ln w="7620">
            <a:solidFill>
              <a:srgbClr val="C0BCB5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711696" y="574243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Chrome Ext</a:t>
            </a:r>
            <a:endParaRPr lang="en-US" sz="700" dirty="0"/>
          </a:p>
        </p:txBody>
      </p:sp>
      <p:sp>
        <p:nvSpPr>
          <p:cNvPr id="33" name="Shape 29"/>
          <p:cNvSpPr/>
          <p:nvPr/>
        </p:nvSpPr>
        <p:spPr>
          <a:xfrm>
            <a:off x="4480560" y="6126480"/>
            <a:ext cx="3108960" cy="0"/>
          </a:xfrm>
          <a:prstGeom prst="line">
            <a:avLst/>
          </a:prstGeom>
          <a:noFill/>
          <a:ln w="6350">
            <a:solidFill>
              <a:srgbClr val="C8C4BE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480560" y="619963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atelistudio.com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7955280" y="868680"/>
            <a:ext cx="3566160" cy="5760720"/>
          </a:xfrm>
          <a:prstGeom prst="rect">
            <a:avLst/>
          </a:prstGeom>
          <a:solidFill>
            <a:srgbClr val="E2DED6"/>
          </a:solidFill>
          <a:ln w="7620">
            <a:solidFill>
              <a:srgbClr val="C8C4BE"/>
            </a:solidFill>
            <a:prstDash val="solid"/>
          </a:ln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55280" y="868680"/>
            <a:ext cx="3566160" cy="2194560"/>
          </a:xfrm>
          <a:prstGeom prst="rect">
            <a:avLst/>
          </a:prstGeom>
        </p:spPr>
      </p:pic>
      <p:sp>
        <p:nvSpPr>
          <p:cNvPr id="37" name="Shape 32"/>
          <p:cNvSpPr/>
          <p:nvPr/>
        </p:nvSpPr>
        <p:spPr>
          <a:xfrm>
            <a:off x="7955280" y="3063240"/>
            <a:ext cx="3566160" cy="3566160"/>
          </a:xfrm>
          <a:prstGeom prst="rect">
            <a:avLst/>
          </a:prstGeom>
          <a:solidFill>
            <a:srgbClr val="E2DED6"/>
          </a:solidFill>
          <a:ln w="12700">
            <a:solidFill>
              <a:srgbClr val="C8C4BE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8183880" y="31546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03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8183880" y="345643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KODOCO</a:t>
            </a:r>
            <a:endParaRPr lang="en-US" sz="3000" dirty="0"/>
          </a:p>
        </p:txBody>
      </p:sp>
      <p:sp>
        <p:nvSpPr>
          <p:cNvPr id="40" name="Text 35"/>
          <p:cNvSpPr/>
          <p:nvPr/>
        </p:nvSpPr>
        <p:spPr>
          <a:xfrm>
            <a:off x="8183880" y="40965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 Record App</a:t>
            </a:r>
            <a:endParaRPr lang="en-US" sz="800" dirty="0"/>
          </a:p>
        </p:txBody>
      </p:sp>
      <p:sp>
        <p:nvSpPr>
          <p:cNvPr id="41" name="Text 36"/>
          <p:cNvSpPr/>
          <p:nvPr/>
        </p:nvSpPr>
        <p:spPr>
          <a:xfrm>
            <a:off x="8183880" y="44348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5000"/>
              </a:lnSpc>
              <a:buNone/>
            </a:pPr>
            <a:r>
              <a:rPr lang="en-US" sz="950" dirty="0">
                <a:solidFill>
                  <a:srgbClr val="3A3A3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子どもの成長・日常を記録するプライベートアプリ。独自ドメイン（kodoco.jp）取得済み。Supabase 認証・DB 完全連携。</a:t>
            </a:r>
            <a:endParaRPr lang="en-US" sz="950" dirty="0"/>
          </a:p>
        </p:txBody>
      </p:sp>
      <p:sp>
        <p:nvSpPr>
          <p:cNvPr id="42" name="Shape 37"/>
          <p:cNvSpPr/>
          <p:nvPr/>
        </p:nvSpPr>
        <p:spPr>
          <a:xfrm>
            <a:off x="8183880" y="5742432"/>
            <a:ext cx="1005840" cy="292608"/>
          </a:xfrm>
          <a:prstGeom prst="rect">
            <a:avLst/>
          </a:prstGeom>
          <a:solidFill>
            <a:srgbClr val="EBE8E2"/>
          </a:solidFill>
          <a:ln w="7620">
            <a:solidFill>
              <a:srgbClr val="C0BCB5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8183880" y="574243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App</a:t>
            </a:r>
            <a:endParaRPr lang="en-US" sz="700" dirty="0"/>
          </a:p>
        </p:txBody>
      </p:sp>
      <p:sp>
        <p:nvSpPr>
          <p:cNvPr id="44" name="Shape 39"/>
          <p:cNvSpPr/>
          <p:nvPr/>
        </p:nvSpPr>
        <p:spPr>
          <a:xfrm>
            <a:off x="9299448" y="5742432"/>
            <a:ext cx="1005840" cy="292608"/>
          </a:xfrm>
          <a:prstGeom prst="rect">
            <a:avLst/>
          </a:prstGeom>
          <a:solidFill>
            <a:srgbClr val="EBE8E2"/>
          </a:solidFill>
          <a:ln w="7620">
            <a:solidFill>
              <a:srgbClr val="C0BCB5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9299448" y="574243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</a:t>
            </a:r>
            <a:endParaRPr lang="en-US" sz="700" dirty="0"/>
          </a:p>
        </p:txBody>
      </p:sp>
      <p:sp>
        <p:nvSpPr>
          <p:cNvPr id="46" name="Shape 41"/>
          <p:cNvSpPr/>
          <p:nvPr/>
        </p:nvSpPr>
        <p:spPr>
          <a:xfrm>
            <a:off x="10415016" y="5742432"/>
            <a:ext cx="1005840" cy="292608"/>
          </a:xfrm>
          <a:prstGeom prst="rect">
            <a:avLst/>
          </a:prstGeom>
          <a:solidFill>
            <a:srgbClr val="EBE8E2"/>
          </a:solidFill>
          <a:ln w="7620">
            <a:solidFill>
              <a:srgbClr val="C0BCB5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10415016" y="574243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kodoco.jp</a:t>
            </a:r>
            <a:endParaRPr lang="en-US" sz="700" dirty="0"/>
          </a:p>
        </p:txBody>
      </p:sp>
      <p:sp>
        <p:nvSpPr>
          <p:cNvPr id="48" name="Shape 43"/>
          <p:cNvSpPr/>
          <p:nvPr/>
        </p:nvSpPr>
        <p:spPr>
          <a:xfrm>
            <a:off x="8183880" y="6126480"/>
            <a:ext cx="3108960" cy="0"/>
          </a:xfrm>
          <a:prstGeom prst="line">
            <a:avLst/>
          </a:prstGeom>
          <a:noFill/>
          <a:ln w="6350">
            <a:solidFill>
              <a:srgbClr val="C8C4BE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8183880" y="619963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kodoco.jp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BE8E2"/>
          </a:solidFill>
          <a:ln w="12700">
            <a:solidFill>
              <a:srgbClr val="EBE8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— CLIENT WORKS  /  制作実績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1091672" cy="0"/>
          </a:xfrm>
          <a:prstGeom prst="line">
            <a:avLst/>
          </a:prstGeom>
          <a:noFill/>
          <a:ln w="7620">
            <a:solidFill>
              <a:srgbClr val="C8C4B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868680"/>
            <a:ext cx="3566160" cy="1737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868680"/>
            <a:ext cx="1604772" cy="256032"/>
          </a:xfrm>
          <a:prstGeom prst="rect">
            <a:avLst/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905256"/>
            <a:ext cx="15499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Design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640080" y="269748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まるいち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0080" y="31729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Maruichi  —  自転車業 / 2022</a:t>
            </a:r>
            <a:endParaRPr lang="en-US" sz="8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51960" y="868680"/>
            <a:ext cx="3566160" cy="17373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251960" y="868680"/>
            <a:ext cx="1604772" cy="256032"/>
          </a:xfrm>
          <a:prstGeom prst="rect">
            <a:avLst/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297680" y="905256"/>
            <a:ext cx="15499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Design</a:t>
            </a:r>
            <a:endParaRPr lang="en-US" sz="650" dirty="0"/>
          </a:p>
        </p:txBody>
      </p:sp>
      <p:sp>
        <p:nvSpPr>
          <p:cNvPr id="13" name="Text 9"/>
          <p:cNvSpPr/>
          <p:nvPr/>
        </p:nvSpPr>
        <p:spPr>
          <a:xfrm>
            <a:off x="4343400" y="269748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木山合金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343400" y="31729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Kiyama Gokin  —  工業 / 2022</a:t>
            </a:r>
            <a:endParaRPr lang="en-US" sz="8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55280" y="868680"/>
            <a:ext cx="3566160" cy="173736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955280" y="868680"/>
            <a:ext cx="1604772" cy="256032"/>
          </a:xfrm>
          <a:prstGeom prst="rect">
            <a:avLst/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001000" y="905256"/>
            <a:ext cx="15499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Design</a:t>
            </a:r>
            <a:endParaRPr lang="en-US" sz="650" dirty="0"/>
          </a:p>
        </p:txBody>
      </p:sp>
      <p:sp>
        <p:nvSpPr>
          <p:cNvPr id="18" name="Text 13"/>
          <p:cNvSpPr/>
          <p:nvPr/>
        </p:nvSpPr>
        <p:spPr>
          <a:xfrm>
            <a:off x="8046720" y="269748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RINCARS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046720" y="31729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RINCARS  —  自動車製造業 / 2022</a:t>
            </a:r>
            <a:endParaRPr lang="en-US" sz="8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8640" y="3840480"/>
            <a:ext cx="3566160" cy="173736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48640" y="3840480"/>
            <a:ext cx="1604772" cy="256032"/>
          </a:xfrm>
          <a:prstGeom prst="rect">
            <a:avLst/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594360" y="3877056"/>
            <a:ext cx="15499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 Experience</a:t>
            </a:r>
            <a:endParaRPr lang="en-US" sz="650" dirty="0"/>
          </a:p>
        </p:txBody>
      </p:sp>
      <p:sp>
        <p:nvSpPr>
          <p:cNvPr id="23" name="Text 17"/>
          <p:cNvSpPr/>
          <p:nvPr/>
        </p:nvSpPr>
        <p:spPr>
          <a:xfrm>
            <a:off x="640080" y="566928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道頓堀 屋台村 祭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640080" y="61447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屋台村 祭  —  飲食業 / 2023</a:t>
            </a:r>
            <a:endParaRPr lang="en-US" sz="8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51960" y="3840480"/>
            <a:ext cx="3566160" cy="173736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4251960" y="3840480"/>
            <a:ext cx="1604772" cy="256032"/>
          </a:xfrm>
          <a:prstGeom prst="rect">
            <a:avLst/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4297680" y="3877056"/>
            <a:ext cx="15499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Design</a:t>
            </a:r>
            <a:endParaRPr lang="en-US" sz="650" dirty="0"/>
          </a:p>
        </p:txBody>
      </p:sp>
      <p:sp>
        <p:nvSpPr>
          <p:cNvPr id="28" name="Text 21"/>
          <p:cNvSpPr/>
          <p:nvPr/>
        </p:nvSpPr>
        <p:spPr>
          <a:xfrm>
            <a:off x="4343400" y="566928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Avenir</a:t>
            </a:r>
            <a:endParaRPr lang="en-US" sz="1700" dirty="0"/>
          </a:p>
        </p:txBody>
      </p:sp>
      <p:sp>
        <p:nvSpPr>
          <p:cNvPr id="29" name="Text 22"/>
          <p:cNvSpPr/>
          <p:nvPr/>
        </p:nvSpPr>
        <p:spPr>
          <a:xfrm>
            <a:off x="4343400" y="61447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Avenir  —  写真撮影業 / 2025</a:t>
            </a:r>
            <a:endParaRPr lang="en-US" sz="85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955280" y="3840480"/>
            <a:ext cx="3566160" cy="173736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7955280" y="3840480"/>
            <a:ext cx="1604772" cy="256032"/>
          </a:xfrm>
          <a:prstGeom prst="rect">
            <a:avLst/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8001000" y="3877056"/>
            <a:ext cx="15499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Design</a:t>
            </a:r>
            <a:endParaRPr lang="en-US" sz="650" dirty="0"/>
          </a:p>
        </p:txBody>
      </p:sp>
      <p:sp>
        <p:nvSpPr>
          <p:cNvPr id="33" name="Text 25"/>
          <p:cNvSpPr/>
          <p:nvPr/>
        </p:nvSpPr>
        <p:spPr>
          <a:xfrm>
            <a:off x="8046720" y="566928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Mirise</a:t>
            </a:r>
            <a:endParaRPr lang="en-US" sz="1700" dirty="0"/>
          </a:p>
        </p:txBody>
      </p:sp>
      <p:sp>
        <p:nvSpPr>
          <p:cNvPr id="34" name="Text 26"/>
          <p:cNvSpPr/>
          <p:nvPr/>
        </p:nvSpPr>
        <p:spPr>
          <a:xfrm>
            <a:off x="8046720" y="61447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Mirise  —  飲食業 / 2022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BE8E2"/>
          </a:solidFill>
          <a:ln w="12700">
            <a:solidFill>
              <a:srgbClr val="EBE8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— HOW WE WORK  /  依頼から納品まで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1091672" cy="0"/>
          </a:xfrm>
          <a:prstGeom prst="line">
            <a:avLst/>
          </a:prstGeom>
          <a:noFill/>
          <a:ln w="7620">
            <a:solidFill>
              <a:srgbClr val="C8C4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868680"/>
            <a:ext cx="11091672" cy="960120"/>
          </a:xfrm>
          <a:prstGeom prst="rect">
            <a:avLst/>
          </a:prstGeom>
          <a:solidFill>
            <a:srgbClr val="E2DED6"/>
          </a:solidFill>
          <a:ln w="7620">
            <a:solidFill>
              <a:srgbClr val="C8C4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60120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08760" y="9601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まず話すだけでいい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13441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LINE・X・Webフォームでお気軽にご連絡ください。課題が整理されていなくても大丈夫です。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241280" y="9601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11091672" cy="960120"/>
          </a:xfrm>
          <a:prstGeom prst="rect">
            <a:avLst/>
          </a:prstGeom>
          <a:solidFill>
            <a:srgbClr val="E2DED6"/>
          </a:solidFill>
          <a:ln w="7620">
            <a:solidFill>
              <a:srgbClr val="C8C4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057400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08760" y="20574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ヒアリング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24414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ブランドの価値・課題・目標・予算・スケジュールを丁寧に伺います。オンライン・対面どちらでも。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241280" y="20574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3–7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063240"/>
            <a:ext cx="11091672" cy="960120"/>
          </a:xfrm>
          <a:prstGeom prst="rect">
            <a:avLst/>
          </a:prstGeom>
          <a:solidFill>
            <a:srgbClr val="E2DED6"/>
          </a:solidFill>
          <a:ln w="7620">
            <a:solidFill>
              <a:srgbClr val="C8C4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154680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08760" y="31546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提案・見積り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35387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プロセス・成果物・スケジュール・費用をご提示します。内容に合わせてカスタマイズします。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241280" y="31546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7–14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11091672" cy="960120"/>
          </a:xfrm>
          <a:prstGeom prst="rect">
            <a:avLst/>
          </a:prstGeom>
          <a:solidFill>
            <a:srgbClr val="E2DED6"/>
          </a:solidFill>
          <a:ln w="7620">
            <a:solidFill>
              <a:srgbClr val="C8C4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251960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08760" y="42519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制作・実装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08760" y="463600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リサーチ・戦略・デザイン・実装を一貫して担います。途中経過を随時共有しながら進めます。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241280" y="42519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プロジェクトによる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5257800"/>
            <a:ext cx="11091672" cy="960120"/>
          </a:xfrm>
          <a:prstGeom prst="rect">
            <a:avLst/>
          </a:prstGeom>
          <a:solidFill>
            <a:srgbClr val="E2DED6"/>
          </a:solidFill>
          <a:ln w="7620">
            <a:solidFill>
              <a:srgbClr val="C8C4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349240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508760" y="53492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納品・継続サポート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08760" y="573328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成果物をお渡しします。納品後のフォローアップ・改善サポートにも対応。長期継続も歓迎。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241280" y="53492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納品後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BE8E2"/>
          </a:solidFill>
          <a:ln w="12700">
            <a:solidFill>
              <a:srgbClr val="EBE8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— PRICING  /  料金の考え方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1091672" cy="0"/>
          </a:xfrm>
          <a:prstGeom prst="line">
            <a:avLst/>
          </a:prstGeom>
          <a:noFill/>
          <a:ln w="7620">
            <a:solidFill>
              <a:srgbClr val="C8C4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11091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77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料金はプロジェクトの規模・内容・期間によって異なります。以下はあくまで目安です。詳細はお気軽にご相談ください。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566160" cy="5303520"/>
          </a:xfrm>
          <a:prstGeom prst="rect">
            <a:avLst/>
          </a:prstGeom>
          <a:solidFill>
            <a:srgbClr val="E2DED6"/>
          </a:solidFill>
          <a:ln w="7620">
            <a:solidFill>
              <a:srgbClr val="C8C4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813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LIGHT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A1A1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ポスター・フライヤー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A1A1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ロゴ・バナー制作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81635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¥30,000〜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337560"/>
            <a:ext cx="3108960" cy="0"/>
          </a:xfrm>
          <a:prstGeom prst="line">
            <a:avLst/>
          </a:prstGeom>
          <a:noFill/>
          <a:ln w="6350">
            <a:solidFill>
              <a:srgbClr val="C8C4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4290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アートディレクション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995928"/>
            <a:ext cx="3108960" cy="0"/>
          </a:xfrm>
          <a:prstGeom prst="line">
            <a:avLst/>
          </a:prstGeom>
          <a:noFill/>
          <a:ln w="6350">
            <a:solidFill>
              <a:srgbClr val="C8C4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08736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デザイン制作（1–3点）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4654296"/>
            <a:ext cx="3108960" cy="0"/>
          </a:xfrm>
          <a:prstGeom prst="line">
            <a:avLst/>
          </a:prstGeom>
          <a:noFill/>
          <a:ln w="6350">
            <a:solidFill>
              <a:srgbClr val="C8C4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745736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修正2回まで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51960" y="1325880"/>
            <a:ext cx="3566160" cy="5303520"/>
          </a:xfrm>
          <a:prstGeom prst="rect">
            <a:avLst/>
          </a:prstGeom>
          <a:solidFill>
            <a:srgbClr val="1A1A18"/>
          </a:solidFill>
          <a:ln w="7620">
            <a:solidFill>
              <a:srgbClr val="2A2A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14813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80560" y="18745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0EDE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Webサイト制作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0EDE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UX / UI設計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80560" y="281635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¥150,000〜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480560" y="3337560"/>
            <a:ext cx="3108960" cy="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34290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ヒアリング・体験設計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480560" y="3995928"/>
            <a:ext cx="3108960" cy="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408736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UI設計・デザイン制作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80560" y="4654296"/>
            <a:ext cx="3108960" cy="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4745736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コーディング・実装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80560" y="5312664"/>
            <a:ext cx="3108960" cy="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0" y="5404104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修正3回まで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955280" y="1325880"/>
            <a:ext cx="3566160" cy="5303520"/>
          </a:xfrm>
          <a:prstGeom prst="rect">
            <a:avLst/>
          </a:prstGeom>
          <a:solidFill>
            <a:srgbClr val="E2DED6"/>
          </a:solidFill>
          <a:ln w="7620">
            <a:solidFill>
              <a:srgbClr val="C8C4B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83880" y="14813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83880" y="18745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A1A1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ブランド体験設計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A1A1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フルパッケージ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183880" y="281635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¥300,000〜  /  ご相談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183880" y="3337560"/>
            <a:ext cx="3108960" cy="0"/>
          </a:xfrm>
          <a:prstGeom prst="line">
            <a:avLst/>
          </a:prstGeom>
          <a:noFill/>
          <a:ln w="6350">
            <a:solidFill>
              <a:srgbClr val="C8C4B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83880" y="34290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Experience Research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183880" y="3995928"/>
            <a:ext cx="3108960" cy="0"/>
          </a:xfrm>
          <a:prstGeom prst="line">
            <a:avLst/>
          </a:prstGeom>
          <a:noFill/>
          <a:ln w="6350">
            <a:solidFill>
              <a:srgbClr val="C8C4B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83880" y="408736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Brand Experience Map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183880" y="4654296"/>
            <a:ext cx="3108960" cy="0"/>
          </a:xfrm>
          <a:prstGeom prst="line">
            <a:avLst/>
          </a:prstGeom>
          <a:noFill/>
          <a:ln w="6350">
            <a:solidFill>
              <a:srgbClr val="C8C4B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83880" y="4745736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UX/UIデザイン全工程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183880" y="5312664"/>
            <a:ext cx="3108960" cy="0"/>
          </a:xfrm>
          <a:prstGeom prst="line">
            <a:avLst/>
          </a:prstGeom>
          <a:noFill/>
          <a:ln w="6350">
            <a:solidFill>
              <a:srgbClr val="C8C4B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83880" y="5404104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実装・継続サポート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BE8E2"/>
          </a:solidFill>
          <a:ln w="12700">
            <a:solidFill>
              <a:srgbClr val="EBE8E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33825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6338255" cy="6858000"/>
          </a:xfrm>
          <a:prstGeom prst="rect">
            <a:avLst/>
          </a:prstGeom>
          <a:solidFill>
            <a:srgbClr val="E2DED6"/>
          </a:solidFill>
          <a:ln w="12700">
            <a:solidFill>
              <a:srgbClr val="E2DED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— CONTACT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731520"/>
            <a:ext cx="11091672" cy="0"/>
          </a:xfrm>
          <a:prstGeom prst="line">
            <a:avLst/>
          </a:prstGeom>
          <a:noFill/>
          <a:ln w="7620">
            <a:solidFill>
              <a:srgbClr val="C8C4B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00584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800" dirty="0">
                <a:solidFill>
                  <a:srgbClr val="1A1A1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まず、話すだけ</a:t>
            </a:r>
            <a:endParaRPr lang="en-US" sz="4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800" dirty="0">
                <a:solidFill>
                  <a:srgbClr val="1A1A1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でいい。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548640" y="3566160"/>
            <a:ext cx="5303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200000"/>
              </a:lnSpc>
              <a:buNone/>
            </a:pPr>
            <a:r>
              <a:rPr lang="en-US" sz="1200" dirty="0">
                <a:solidFill>
                  <a:srgbClr val="3A3A3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課題が整理されていなくても大丈夫です。</a:t>
            </a:r>
            <a:endParaRPr lang="en-US" sz="1200" dirty="0"/>
          </a:p>
          <a:p>
            <a:pPr indent="0" marL="0">
              <a:lnSpc>
                <a:spcPct val="200000"/>
              </a:lnSpc>
              <a:buNone/>
            </a:pPr>
            <a:r>
              <a:rPr lang="en-US" sz="1200" dirty="0">
                <a:solidFill>
                  <a:srgbClr val="3A3A3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「こんなことできる？」という最初の一歩をお待ちしています。</a:t>
            </a:r>
            <a:endParaRPr lang="en-US" sz="1200" dirty="0"/>
          </a:p>
          <a:p>
            <a:pPr indent="0" marL="0">
              <a:lnSpc>
                <a:spcPct val="200000"/>
              </a:lnSpc>
              <a:buNone/>
            </a:pPr>
            <a:endParaRPr lang="en-US" sz="1200" dirty="0"/>
          </a:p>
          <a:p>
            <a:pPr indent="0" marL="0">
              <a:lnSpc>
                <a:spcPct val="200000"/>
              </a:lnSpc>
              <a:buNone/>
            </a:pPr>
            <a:r>
              <a:rPr lang="en-US" sz="1200" dirty="0">
                <a:solidFill>
                  <a:srgbClr val="3A3A3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滋賀・関西エリアは対面対応も可能です。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2179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対応エリア: 全国（リモート）/ 滋賀・関西（対面可）   返信目安: 24時間以内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583680" y="868680"/>
            <a:ext cx="5212080" cy="1170432"/>
          </a:xfrm>
          <a:prstGeom prst="rect">
            <a:avLst/>
          </a:prstGeom>
          <a:solidFill>
            <a:srgbClr val="E2DED6"/>
          </a:solidFill>
          <a:ln w="7620">
            <a:solidFill>
              <a:srgbClr val="C8C4B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1228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LINE（推奨）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812280" y="139903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page.line.me/424oyeob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338560" y="127101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583680" y="2240280"/>
            <a:ext cx="5212080" cy="1170432"/>
          </a:xfrm>
          <a:prstGeom prst="rect">
            <a:avLst/>
          </a:prstGeom>
          <a:solidFill>
            <a:srgbClr val="E2DED6"/>
          </a:solidFill>
          <a:ln w="7620">
            <a:solidFill>
              <a:srgbClr val="C8C4B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12280" y="2377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/ Twitter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812280" y="277063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@kinoshitastudio にDM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338560" y="264261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583680" y="3611880"/>
            <a:ext cx="5212080" cy="1170432"/>
          </a:xfrm>
          <a:prstGeom prst="rect">
            <a:avLst/>
          </a:prstGeom>
          <a:solidFill>
            <a:srgbClr val="E2DED6"/>
          </a:solidFill>
          <a:ln w="7620">
            <a:solidFill>
              <a:srgbClr val="C8C4B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12280" y="3749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Form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812280" y="414223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kinoshita.studio/#contact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1338560" y="401421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583680" y="4983480"/>
            <a:ext cx="5212080" cy="1170432"/>
          </a:xfrm>
          <a:prstGeom prst="rect">
            <a:avLst/>
          </a:prstGeom>
          <a:solidFill>
            <a:srgbClr val="E2DED6"/>
          </a:solidFill>
          <a:ln w="7620">
            <a:solidFill>
              <a:srgbClr val="C8C4B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12280" y="5120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89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Instagram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12280" y="551383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@kinoshita.studio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1338560" y="538581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2026-06-09T00:58:14Z</dcterms:created>
  <dcterms:modified xsi:type="dcterms:W3CDTF">2026-06-09T00:58:14Z</dcterms:modified>
</cp:coreProperties>
</file>