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068312" y="0"/>
            <a:ext cx="5120640" cy="6858000"/>
          </a:xfrm>
          <a:prstGeom prst="rect">
            <a:avLst/>
          </a:prstGeom>
          <a:solidFill>
            <a:srgbClr val="2A2A2A"/>
          </a:solidFill>
          <a:ln w="12700">
            <a:solidFill>
              <a:srgbClr val="333333"/>
            </a:solidFill>
            <a:prstDash val="solid"/>
          </a:ln>
        </p:spPr>
      </p:sp>
      <p:sp>
        <p:nvSpPr>
          <p:cNvPr id="3" name="Shape 1"/>
          <p:cNvSpPr/>
          <p:nvPr/>
        </p:nvSpPr>
        <p:spPr>
          <a:xfrm>
            <a:off x="8412480" y="1097280"/>
            <a:ext cx="2377440" cy="2377440"/>
          </a:xfrm>
          <a:prstGeom prst="ellipse">
            <a:avLst/>
          </a:prstGeom>
          <a:solidFill>
            <a:srgbClr val="3A3A3A"/>
          </a:solidFill>
          <a:ln w="12700">
            <a:solidFill>
              <a:srgbClr val="333333"/>
            </a:solidFill>
            <a:prstDash val="solid"/>
          </a:ln>
        </p:spPr>
      </p:sp>
      <p:sp>
        <p:nvSpPr>
          <p:cNvPr id="4" name="Shape 2"/>
          <p:cNvSpPr/>
          <p:nvPr/>
        </p:nvSpPr>
        <p:spPr>
          <a:xfrm>
            <a:off x="7863840" y="3566160"/>
            <a:ext cx="3474720" cy="2743200"/>
          </a:xfrm>
          <a:prstGeom prst="rect">
            <a:avLst/>
          </a:prstGeom>
          <a:solidFill>
            <a:srgbClr val="383838"/>
          </a:solidFill>
          <a:ln w="12700">
            <a:solidFill>
              <a:srgbClr val="333333"/>
            </a:solidFill>
            <a:prstDash val="solid"/>
          </a:ln>
        </p:spPr>
      </p:sp>
      <p:sp>
        <p:nvSpPr>
          <p:cNvPr id="5" name="Text 3"/>
          <p:cNvSpPr/>
          <p:nvPr/>
        </p:nvSpPr>
        <p:spPr>
          <a:xfrm>
            <a:off x="7068312" y="6309360"/>
            <a:ext cx="5120640" cy="365760"/>
          </a:xfrm>
          <a:prstGeom prst="rect">
            <a:avLst/>
          </a:prstGeom>
          <a:noFill/>
          <a:ln/>
        </p:spPr>
        <p:txBody>
          <a:bodyPr wrap="square" rtlCol="0" anchor="ctr"/>
          <a:lstStyle/>
          <a:p>
            <a:pPr algn="ctr" indent="0" marL="0">
              <a:buNone/>
            </a:pPr>
            <a:r>
              <a:rPr lang="en-US" sz="800" dirty="0">
                <a:solidFill>
                  <a:srgbClr val="555555"/>
                </a:solidFill>
                <a:latin typeface="Arial" pitchFamily="34" charset="0"/>
                <a:ea typeface="Arial" pitchFamily="34" charset="-122"/>
                <a:cs typeface="Arial" pitchFamily="34" charset="-120"/>
              </a:rPr>
              <a:t>Photo Area</a:t>
            </a:r>
            <a:endParaRPr lang="en-US" sz="800" dirty="0"/>
          </a:p>
        </p:txBody>
      </p:sp>
      <p:sp>
        <p:nvSpPr>
          <p:cNvPr id="6" name="Text 4"/>
          <p:cNvSpPr/>
          <p:nvPr/>
        </p:nvSpPr>
        <p:spPr>
          <a:xfrm>
            <a:off x="548640" y="384048"/>
            <a:ext cx="6400800" cy="292608"/>
          </a:xfrm>
          <a:prstGeom prst="rect">
            <a:avLst/>
          </a:prstGeom>
          <a:noFill/>
          <a:ln/>
        </p:spPr>
        <p:txBody>
          <a:bodyPr wrap="square" rtlCol="0" anchor="ctr"/>
          <a:lstStyle/>
          <a:p>
            <a:pPr indent="0" marL="0">
              <a:buNone/>
            </a:pPr>
            <a:r>
              <a:rPr lang="en-US" sz="950" spc="50" kern="0" dirty="0">
                <a:solidFill>
                  <a:srgbClr val="999999"/>
                </a:solidFill>
                <a:latin typeface="Arial" pitchFamily="34" charset="0"/>
                <a:ea typeface="Arial" pitchFamily="34" charset="-122"/>
                <a:cs typeface="Arial" pitchFamily="34" charset="-120"/>
              </a:rPr>
              <a:t>01  会社概要  |  代表メッセージ</a:t>
            </a:r>
            <a:endParaRPr lang="en-US" sz="950" dirty="0"/>
          </a:p>
        </p:txBody>
      </p:sp>
      <p:sp>
        <p:nvSpPr>
          <p:cNvPr id="7" name="Text 5"/>
          <p:cNvSpPr/>
          <p:nvPr/>
        </p:nvSpPr>
        <p:spPr>
          <a:xfrm>
            <a:off x="548640" y="822960"/>
            <a:ext cx="6400800" cy="749808"/>
          </a:xfrm>
          <a:prstGeom prst="rect">
            <a:avLst/>
          </a:prstGeom>
          <a:noFill/>
          <a:ln/>
        </p:spPr>
        <p:txBody>
          <a:bodyPr wrap="square" rtlCol="0" anchor="ctr"/>
          <a:lstStyle/>
          <a:p>
            <a:pPr indent="0" marL="0">
              <a:buNone/>
            </a:pPr>
            <a:r>
              <a:rPr lang="en-US" sz="2800" b="1" dirty="0">
                <a:solidFill>
                  <a:srgbClr val="1A1A1A"/>
                </a:solidFill>
                <a:latin typeface="Arial" pitchFamily="34" charset="0"/>
                <a:ea typeface="Arial" pitchFamily="34" charset="-122"/>
                <a:cs typeface="Arial" pitchFamily="34" charset="-120"/>
              </a:rPr>
              <a:t>労働力不足を解決し、</a:t>
            </a:r>
            <a:endParaRPr lang="en-US" sz="2800" dirty="0"/>
          </a:p>
        </p:txBody>
      </p:sp>
      <p:sp>
        <p:nvSpPr>
          <p:cNvPr id="8" name="Shape 6"/>
          <p:cNvSpPr/>
          <p:nvPr/>
        </p:nvSpPr>
        <p:spPr>
          <a:xfrm>
            <a:off x="548640" y="1545336"/>
            <a:ext cx="4114800" cy="64008"/>
          </a:xfrm>
          <a:prstGeom prst="rect">
            <a:avLst/>
          </a:prstGeom>
          <a:solidFill>
            <a:srgbClr val="FF5500"/>
          </a:solidFill>
          <a:ln w="12700">
            <a:solidFill>
              <a:srgbClr val="333333"/>
            </a:solidFill>
            <a:prstDash val="solid"/>
          </a:ln>
        </p:spPr>
      </p:sp>
      <p:sp>
        <p:nvSpPr>
          <p:cNvPr id="9" name="Text 7"/>
          <p:cNvSpPr/>
          <p:nvPr/>
        </p:nvSpPr>
        <p:spPr>
          <a:xfrm>
            <a:off x="548640" y="1627632"/>
            <a:ext cx="6400800" cy="749808"/>
          </a:xfrm>
          <a:prstGeom prst="rect">
            <a:avLst/>
          </a:prstGeom>
          <a:noFill/>
          <a:ln/>
        </p:spPr>
        <p:txBody>
          <a:bodyPr wrap="square" rtlCol="0" anchor="ctr"/>
          <a:lstStyle/>
          <a:p>
            <a:pPr indent="0" marL="0">
              <a:buNone/>
            </a:pPr>
            <a:r>
              <a:rPr lang="en-US" sz="2800" b="1" dirty="0">
                <a:solidFill>
                  <a:srgbClr val="1A1A1A"/>
                </a:solidFill>
                <a:latin typeface="Arial" pitchFamily="34" charset="0"/>
                <a:ea typeface="Arial" pitchFamily="34" charset="-122"/>
                <a:cs typeface="Arial" pitchFamily="34" charset="-120"/>
              </a:rPr>
              <a:t>人の可能性を最大化</a:t>
            </a:r>
            <a:endParaRPr lang="en-US" sz="2800" dirty="0"/>
          </a:p>
        </p:txBody>
      </p:sp>
      <p:sp>
        <p:nvSpPr>
          <p:cNvPr id="10" name="Text 8"/>
          <p:cNvSpPr/>
          <p:nvPr/>
        </p:nvSpPr>
        <p:spPr>
          <a:xfrm>
            <a:off x="548640" y="2505456"/>
            <a:ext cx="6400800" cy="365760"/>
          </a:xfrm>
          <a:prstGeom prst="rect">
            <a:avLst/>
          </a:prstGeom>
          <a:noFill/>
          <a:ln/>
        </p:spPr>
        <p:txBody>
          <a:bodyPr wrap="square" rtlCol="0" anchor="ctr"/>
          <a:lstStyle/>
          <a:p>
            <a:pPr indent="0" marL="0">
              <a:buNone/>
            </a:pPr>
            <a:r>
              <a:rPr lang="en-US" sz="1150" b="1" dirty="0">
                <a:solidFill>
                  <a:srgbClr val="FF5500"/>
                </a:solidFill>
                <a:latin typeface="Arial" pitchFamily="34" charset="0"/>
                <a:ea typeface="Arial" pitchFamily="34" charset="-122"/>
                <a:cs typeface="Arial" pitchFamily="34" charset="-120"/>
              </a:rPr>
              <a:t>〜変化を楽しみ、自ら未来を創る最高の舞台〜</a:t>
            </a:r>
            <a:endParaRPr lang="en-US" sz="1150" dirty="0"/>
          </a:p>
        </p:txBody>
      </p:sp>
      <p:sp>
        <p:nvSpPr>
          <p:cNvPr id="11" name="Text 9"/>
          <p:cNvSpPr/>
          <p:nvPr/>
        </p:nvSpPr>
        <p:spPr>
          <a:xfrm>
            <a:off x="548640" y="2999232"/>
            <a:ext cx="6263640" cy="2834640"/>
          </a:xfrm>
          <a:prstGeom prst="rect">
            <a:avLst/>
          </a:prstGeom>
          <a:noFill/>
          <a:ln/>
        </p:spPr>
        <p:txBody>
          <a:bodyPr wrap="square" rtlCol="0" anchor="t"/>
          <a:lstStyle/>
          <a:p>
            <a:pPr indent="0" marL="0">
              <a:lnSpc>
                <a:spcPct val="155000"/>
              </a:lnSpc>
              <a:buNone/>
            </a:pPr>
            <a:r>
              <a:rPr lang="en-US" sz="1050" dirty="0">
                <a:solidFill>
                  <a:srgbClr val="555555"/>
                </a:solidFill>
                <a:latin typeface="Arial" pitchFamily="34" charset="0"/>
                <a:ea typeface="Arial" pitchFamily="34" charset="-122"/>
                <a:cs typeface="Arial" pitchFamily="34" charset="-120"/>
              </a:rPr>
              <a:t>うるるは創業以来「労働力不足」という大きな社会課題に対して、ITと人の力を組み合わせ独自の事業をつくってきました。これまで多くの「変化」に直面しながらも、変化を受け入れ前向きに挑んできた企業であり人材が集まっています。</a:t>
            </a:r>
            <a:endParaRPr lang="en-US" sz="1050" dirty="0"/>
          </a:p>
          <a:p>
            <a:pPr indent="0" marL="0">
              <a:lnSpc>
                <a:spcPct val="155000"/>
              </a:lnSpc>
              <a:buNone/>
            </a:pPr>
            <a:endParaRPr lang="en-US" sz="1050" dirty="0"/>
          </a:p>
          <a:p>
            <a:pPr indent="0" marL="0">
              <a:lnSpc>
                <a:spcPct val="155000"/>
              </a:lnSpc>
              <a:buNone/>
            </a:pPr>
            <a:r>
              <a:rPr lang="en-US" sz="1050" dirty="0">
                <a:solidFill>
                  <a:srgbClr val="555555"/>
                </a:solidFill>
                <a:latin typeface="Arial" pitchFamily="34" charset="0"/>
                <a:ea typeface="Arial" pitchFamily="34" charset="-122"/>
                <a:cs typeface="Arial" pitchFamily="34" charset="-120"/>
              </a:rPr>
              <a:t>社内のさまざまなアイデアが新しい事業を生むことでどんどんフェーズで変化し、社会を変えたいと思える環境があります。AIと人のちからを組み合わせ、まだ誰もいない場所へ。次の時代を一緒につくる仲間を求めています。</a:t>
            </a:r>
            <a:endParaRPr lang="en-US" sz="1050" dirty="0"/>
          </a:p>
        </p:txBody>
      </p:sp>
      <p:sp>
        <p:nvSpPr>
          <p:cNvPr id="12" name="Shape 10"/>
          <p:cNvSpPr/>
          <p:nvPr/>
        </p:nvSpPr>
        <p:spPr>
          <a:xfrm>
            <a:off x="548640" y="6163056"/>
            <a:ext cx="6492240" cy="10973"/>
          </a:xfrm>
          <a:prstGeom prst="rect">
            <a:avLst/>
          </a:prstGeom>
          <a:solidFill>
            <a:srgbClr val="E0E0E0"/>
          </a:solidFill>
          <a:ln w="12700">
            <a:solidFill>
              <a:srgbClr val="333333"/>
            </a:solidFill>
            <a:prstDash val="solid"/>
          </a:ln>
        </p:spPr>
      </p:sp>
      <p:sp>
        <p:nvSpPr>
          <p:cNvPr id="13" name="Text 11"/>
          <p:cNvSpPr/>
          <p:nvPr/>
        </p:nvSpPr>
        <p:spPr>
          <a:xfrm>
            <a:off x="548640" y="6281928"/>
            <a:ext cx="2011680" cy="320040"/>
          </a:xfrm>
          <a:prstGeom prst="rect">
            <a:avLst/>
          </a:prstGeom>
          <a:noFill/>
          <a:ln/>
        </p:spPr>
        <p:txBody>
          <a:bodyPr wrap="square" rtlCol="0" anchor="ctr"/>
          <a:lstStyle/>
          <a:p>
            <a:pPr indent="0" marL="0">
              <a:buNone/>
            </a:pPr>
            <a:r>
              <a:rPr lang="en-US" sz="800" dirty="0">
                <a:solidFill>
                  <a:srgbClr val="BBBBBB"/>
                </a:solidFill>
                <a:latin typeface="Arial" pitchFamily="34" charset="0"/>
                <a:ea typeface="Arial" pitchFamily="34" charset="-122"/>
                <a:cs typeface="Arial" pitchFamily="34" charset="-120"/>
              </a:rPr>
              <a:t>@ULURU Inc.</a:t>
            </a:r>
            <a:endParaRPr lang="en-US" sz="800" dirty="0"/>
          </a:p>
        </p:txBody>
      </p:sp>
      <p:sp>
        <p:nvSpPr>
          <p:cNvPr id="14" name="Text 12"/>
          <p:cNvSpPr/>
          <p:nvPr/>
        </p:nvSpPr>
        <p:spPr>
          <a:xfrm>
            <a:off x="2560320" y="6281928"/>
            <a:ext cx="3200400" cy="320040"/>
          </a:xfrm>
          <a:prstGeom prst="rect">
            <a:avLst/>
          </a:prstGeom>
          <a:noFill/>
          <a:ln/>
        </p:spPr>
        <p:txBody>
          <a:bodyPr wrap="square" rtlCol="0" anchor="ctr"/>
          <a:lstStyle/>
          <a:p>
            <a:pPr algn="ctr" indent="0" marL="0">
              <a:buNone/>
            </a:pPr>
            <a:r>
              <a:rPr lang="en-US" sz="900" b="1" dirty="0">
                <a:solidFill>
                  <a:srgbClr val="333333"/>
                </a:solidFill>
                <a:latin typeface="Arial" pitchFamily="34" charset="0"/>
                <a:ea typeface="Arial" pitchFamily="34" charset="-122"/>
                <a:cs typeface="Arial" pitchFamily="34" charset="-120"/>
              </a:rPr>
              <a:t>代表取締役CEO　星 知也</a:t>
            </a:r>
            <a:endParaRPr lang="en-US" sz="900" dirty="0"/>
          </a:p>
        </p:txBody>
      </p:sp>
      <p:sp>
        <p:nvSpPr>
          <p:cNvPr id="15" name="Text 13"/>
          <p:cNvSpPr/>
          <p:nvPr/>
        </p:nvSpPr>
        <p:spPr>
          <a:xfrm>
            <a:off x="5943600" y="6281928"/>
            <a:ext cx="1097280" cy="320040"/>
          </a:xfrm>
          <a:prstGeom prst="rect">
            <a:avLst/>
          </a:prstGeom>
          <a:noFill/>
          <a:ln/>
        </p:spPr>
        <p:txBody>
          <a:bodyPr wrap="square" rtlCol="0" anchor="ctr"/>
          <a:lstStyle/>
          <a:p>
            <a:pPr algn="r" indent="0" marL="0">
              <a:buNone/>
            </a:pPr>
            <a:r>
              <a:rPr lang="en-US" sz="900" dirty="0">
                <a:solidFill>
                  <a:srgbClr val="BBBBBB"/>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2026-05-23T10:06:53Z</dcterms:created>
  <dcterms:modified xsi:type="dcterms:W3CDTF">2026-05-23T10:06:53Z</dcterms:modified>
</cp:coreProperties>
</file>